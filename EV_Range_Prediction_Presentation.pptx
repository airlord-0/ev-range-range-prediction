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972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Electric Vehicle Driving Range Prediction</a:t>
            </a:r>
          </a:p>
          <a:p>
            <a:pPr>
              <a:spcBef>
                <a:spcPts val="1200"/>
              </a:spcBef>
              <a:defRPr sz="2000">
                <a:solidFill>
                  <a:srgbClr val="BFDBFE"/>
                </a:solidFill>
              </a:defRPr>
            </a:pPr>
            <a:r>
              <a:t>Physics-Grounded Machine Learning Regression and Performance Benchmarking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</a:defRPr>
            </a:pPr>
            <a:r>
              <a:t>Target Vehicle: 2013 Nissan Leaf (24 kWh Battery) | Reference: University of Michigan VED Schema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BACKGROUND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E3C"/>
                </a:solidFill>
              </a:defRPr>
            </a:pPr>
            <a:r>
              <a:t>1.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0F1E3C"/>
                </a:solidFill>
              </a:defRPr>
            </a:pPr>
            <a:r>
              <a:t>Industry Context and Transition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Global automotive shift toward Battery Electric Vehicles (BEVs) to achieve net-zero transport emissions.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Range anxiety remains one of the primary deterrents to widespread consumer adoption.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Unlike internal combustion vehicles with 500+ km range and 5-minute refueling, EVs require precise energy budgeting.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A driver stranded due to unexpected range depletion creates safety, logistics, and roadside assistance challenges.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0F1E3C"/>
                </a:solidFill>
              </a:defRPr>
            </a:pPr>
            <a:r>
              <a:t>Limitations of Existing Systems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Official Standard Ratings (WLTP / EPA): Tested under standardized laboratory temperature cycles; do not reflect highway or winter real-world driving.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Dashboard In-Vehicle Estimators: Heavily rely on trailing moving averages of the last 10 to 50 km driven.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Failure Under Volatile Conditions: Abrupt speed increases, cold snaps, or cabin heating cause sudden range drop-offs of 20% to 40%.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Project Objective: Develop an adaptive machine learning model that maps multi-dimensional telemetry directly to continuous remaining range.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TECHNICAL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E3C"/>
                </a:solidFill>
              </a:defRPr>
            </a:pPr>
            <a:r>
              <a:t>2.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0F1E3C"/>
                </a:solidFill>
              </a:defRPr>
            </a:pPr>
            <a:r>
              <a:t>Speed &amp; Aerodynamic Drag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- Aerodynamic power loss scales with the cube of vehicle velocity (v^3).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- Driving at 110 km/h versus 50 km/h requires disproportionately higher power from the battery pack.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- Highway travel severely compresses driving range compared to urban regenerative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0F1E3C"/>
                </a:solidFill>
              </a:defRPr>
            </a:pPr>
            <a:r>
              <a:t>Sub-Zero Thermal Impact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- Li-ion electrolyte viscosity increases and internal resistance rises in cold weather (&lt; 15 deg C).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- Available discharge capacity decreases up to 35% in freezing temperatures.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- Positive Temperature Coefficient (PTC) cabin heaters consume 1.0 to 4.5 kW directly from the traction pack.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- Unlike ICE cars, EVs have no waste engine heat to heat the cabin.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0F1E3C"/>
                </a:solidFill>
              </a:defRPr>
            </a:pPr>
            <a:r>
              <a:t>Mathematical Formulation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Goal: Construct a multivariate regression function f(X) -&gt; Y.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Input Vector X in R^5: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1. Speed (km/h)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2. Ambient Temperature (deg C)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3. State of Charge (SoC %)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4. Road Slope (%)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5. Cabin HVAC Load (kW)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Target Output Y: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  Continuous Remaining Range (km).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EXISTING RESEARCH &amp; METHODOLOGY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E3C"/>
                </a:solidFill>
              </a:defRPr>
            </a:pPr>
            <a:r>
              <a:t>3. 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2926080"/>
                <a:gridCol w="2743200"/>
              </a:tblGrid>
              <a:tr h="11887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Core Methodology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Advantages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Critical Limitations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Physics-Based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Mechanical differential equations (F_tractive = F_aero + F_roll + F_slope).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Rooted in physical principles; high transparency.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Requires complex calibration of drag area, friction, and mass; fails to generalize.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Statistical Moving Averages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Trailing window average of Wh/km over preceding 10-50 km.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Computationally trivial; easy to implement on low-cost ECUs.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Inherently reactive; introduces severe lag during speed or slope transitions.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Data-Driven Machine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Supervised regression models trained on real vehicle telemetry (e.g., VED dataset).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Captures non-linear coupled interactions (HVAC + speed + cold); highly adaptive.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Requires empirical comparison to establish the optimal regression family (Trees vs. SVR).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ARCHITECTURAL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E3C"/>
                </a:solidFill>
              </a:defRPr>
            </a:pPr>
            <a:r>
              <a:t>4. Proposed Solution and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926080" cy="7772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1: Data Ingestion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1463040"/>
            <a:ext cx="76809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Trip telemetry structured according to the University of Michigan Vehicle Energy Dataset (VED) schema.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2926080" cy="7772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2: Preprocessing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2423160"/>
            <a:ext cx="76809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Feature normalization through StandardScaler within an isolated scikit-learn Pipeline to prevent data leakage.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2926080" cy="7772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3: Multi-Model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3383280"/>
            <a:ext cx="76809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Comprehensive training of Random Forest, Gradient Boosting, and Support Vector Regressor (SVR).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43400"/>
            <a:ext cx="2926080" cy="7772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4: Benchmarking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4343400"/>
            <a:ext cx="76809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Evaluation across MAE, RMSE, and R2 to determine the superior mathematical architecture.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03520"/>
            <a:ext cx="2926080" cy="7772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5: Model Deployment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5303520"/>
            <a:ext cx="76809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Serialization of champion SVR model (.joblib) and integration with an interactive Streamlit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IMPLEMENTATION AND MODEL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E3C"/>
                </a:solidFill>
              </a:defRPr>
            </a:pPr>
            <a:r>
              <a:t>5. Solution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700" b="1">
                <a:solidFill>
                  <a:srgbClr val="0F1E3C"/>
                </a:solidFill>
              </a:defRPr>
            </a:pPr>
            <a:r>
              <a:t>Dataset &amp; Physical Parameters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- Vehicle Profile: 2013 Nissan Leaf BEV (24 kWh nominal pack, 21.5 kWh usable capacity).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- Volume: 5,000 driving trip records spanning urban, suburban, and highway regimes.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- Split: 80% Training (4,000 samples) and 20% Unseen Testing (1,000 samples).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- Key Physics Encoded: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  - Base consumption: 140 Wh/km at 50 km/h.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  - Drag power penalty: ((Speed / 50)^1.8) * 35 Wh/km.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  - Road slope resistance: Slope * 15 Wh/km.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  - Auxiliary load: (HVAC kW * 1000) / Speed.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  - Low-temp chemical degradation below 15 deg 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700" b="1">
                <a:solidFill>
                  <a:srgbClr val="0F1E3C"/>
                </a:solidFill>
              </a:defRPr>
            </a:pPr>
            <a:r>
              <a:t>Algorithms &amp; Hyperparameters</a:t>
            </a:r>
          </a:p>
          <a:p>
            <a:pPr>
              <a:spcBef>
                <a:spcPts val="400"/>
              </a:spcBef>
              <a:defRPr sz="1200" b="1">
                <a:solidFill>
                  <a:srgbClr val="0F1E3C"/>
                </a:solidFill>
              </a:defRPr>
            </a:pPr>
            <a:r>
              <a:t>Random Forest Regressor: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  - 150 estimators, max depth: 12, min samples split: 4.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  - Ensemble of de-correlated decision trees with bagging.</a:t>
            </a:r>
          </a:p>
          <a:p>
            <a:pPr>
              <a:spcBef>
                <a:spcPts val="400"/>
              </a:spcBef>
              <a:defRPr sz="1200" b="1">
                <a:solidFill>
                  <a:srgbClr val="0F1E3C"/>
                </a:solidFill>
              </a:defRPr>
            </a:pPr>
            <a:r>
              <a:t>Gradient Boosting Regressor: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  - 180 estimators, learning rate: 0.08, max depth: 5.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  - Sequential boosting minimizing squared residual errors.</a:t>
            </a:r>
          </a:p>
          <a:p>
            <a:pPr>
              <a:spcBef>
                <a:spcPts val="400"/>
              </a:spcBef>
              <a:defRPr sz="1200" b="1">
                <a:solidFill>
                  <a:srgbClr val="0F1E3C"/>
                </a:solidFill>
              </a:defRPr>
            </a:pPr>
            <a:r>
              <a:t>Support Vector Regressor (SVR):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  - Radial Basis Function (RBF) non-linear kernel.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  - Regularization parameter C: 100.0, Epsilon margin: 1.0.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  - Coupled with StandardScaler in a scikit-learn Pipeline.</a:t>
            </a:r>
          </a:p>
          <a:p>
            <a:pPr>
              <a:spcBef>
                <a:spcPts val="400"/>
              </a:spcBef>
              <a:defRPr sz="1200" b="0">
                <a:solidFill>
                  <a:srgbClr val="1E293B"/>
                </a:solidFill>
              </a:defRPr>
            </a:pPr>
            <a:r>
              <a:t>Deployment: Saved as models/svr_pipeline.joblib.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EMPIRICAL EVALUATION ON 1,000 UNSEEN TEST TRIPS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E3C"/>
                </a:solidFill>
              </a:defRPr>
            </a:pPr>
            <a:r>
              <a:t>6. Scalability &amp; Performance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1828800"/>
                <a:gridCol w="20116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MAE (km)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RMSE (km)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R2 Score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</a:defRPr>
                      </a:pPr>
                      <a:r>
                        <a:t>Support Vector Regressor (SVR)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</a:defRPr>
                      </a:pPr>
                      <a:r>
                        <a:t>1.30 km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</a:defRPr>
                      </a:pPr>
                      <a:r>
                        <a:t>1.92 km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</a:defRPr>
                      </a:pPr>
                      <a:r>
                        <a:t>0.9953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</a:defRPr>
                      </a:pPr>
                      <a:r>
                        <a:t>Selected Champion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Gradient Boosting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1.88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2.69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0.9909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Evaluated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2.52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3.61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0.9835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93B"/>
                          </a:solidFill>
                        </a:defRPr>
                      </a:pPr>
                      <a:r>
                        <a:t>Evaluated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1E3C"/>
                </a:solidFill>
              </a:defRPr>
            </a:pPr>
            <a:r>
              <a:t>Why SVR Outperformed Decision Trees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- Continuous Manifold: Battery consumption follows continuous physical differential curves (aerodynamic cubic drag, smooth thermal drop).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- Step-wise vs. Smooth: Decision trees use orthogonal axis-aligned cuts, producing piece-wise constant step approximations.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- RBF Kernel Advantage: Maps inputs to an infinite-dimensional Hilbert space, accurately fitting smooth non-linear curves.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1208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1E3C"/>
                </a:solidFill>
              </a:defRPr>
            </a:pPr>
            <a:r>
              <a:t>Feature Importance &amp; Sensitivity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1. State of Charge (SoC %): ~59% (primary energy reserve).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2. Ambient Temperature (deg C): ~15.5% (chemical impedance).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3. Vehicle Speed (km/h): ~10.5% (aerodynamic drag load).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4. Road Slope (%): ~8.2% (potential energy climbing load).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5. Cabin HVAC Load (kW): ~7.0% (parasitic traction pack draw).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VISUAL VERIFICATION AND EDGE-CASE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E3C"/>
                </a:solidFill>
              </a:defRPr>
            </a:pPr>
            <a:r>
              <a:t>6. Scalability &amp; Performance Analysis</a:t>
            </a:r>
          </a:p>
        </p:txBody>
      </p:sp>
      <p:pic>
        <p:nvPicPr>
          <p:cNvPr id="5" name="Picture 4" descr="ev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1727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2976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F1E3C"/>
                </a:solidFill>
              </a:defRPr>
            </a:pPr>
            <a:r>
              <a:t>Real-World Edge Case Validation</a:t>
            </a:r>
          </a:p>
          <a:p>
            <a:pPr>
              <a:spcBef>
                <a:spcPts val="300"/>
              </a:spcBef>
              <a:defRPr sz="1100" b="1">
                <a:solidFill>
                  <a:srgbClr val="1D4ED8"/>
                </a:solidFill>
              </a:defRPr>
            </a:pPr>
            <a:r>
              <a:t>Scenario A: Freezing Winter Highway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- Inputs: -5 deg C, 100 km/h, 80% SoC, 4.0 kW Heater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- Predicted Range: 39.8 km (62% range penalty)</a:t>
            </a:r>
          </a:p>
          <a:p>
            <a:pPr>
              <a:spcBef>
                <a:spcPts val="300"/>
              </a:spcBef>
              <a:defRPr sz="1100" b="1">
                <a:solidFill>
                  <a:srgbClr val="1D4ED8"/>
                </a:solidFill>
              </a:defRPr>
            </a:pPr>
            <a:r>
              <a:t>Scenario B: Mild Spring City Commute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- Inputs: 20 deg C, 40 km/h, 80% SoC, HVAC Off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- Predicted Range: 106.3 km (Optimal operating zone)</a:t>
            </a:r>
          </a:p>
          <a:p>
            <a:pPr>
              <a:spcBef>
                <a:spcPts val="300"/>
              </a:spcBef>
              <a:defRPr sz="1100" b="1">
                <a:solidFill>
                  <a:srgbClr val="1D4ED8"/>
                </a:solidFill>
              </a:defRPr>
            </a:pPr>
            <a:r>
              <a:t>Scenario C: Hot Summer Incline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- Inputs: 34 deg C, 60 km/h, 50% SoC, +4% Grade</a:t>
            </a:r>
          </a:p>
          <a:p>
            <a:pPr>
              <a:spcBef>
                <a:spcPts val="300"/>
              </a:spcBef>
              <a:defRPr sz="1100" b="0">
                <a:solidFill>
                  <a:srgbClr val="1E293B"/>
                </a:solidFill>
              </a:defRPr>
            </a:pPr>
            <a:r>
              <a:t>  - Predicted Range: 37.1 km</a:t>
            </a:r>
          </a:p>
          <a:p>
            <a:pPr>
              <a:spcBef>
                <a:spcPts val="1200"/>
              </a:spcBef>
              <a:defRPr sz="1500" b="1">
                <a:solidFill>
                  <a:srgbClr val="0F1E3C"/>
                </a:solidFill>
              </a:defRPr>
            </a:pPr>
            <a:r>
              <a:t>System Scalability Metrics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- Model Size: &lt; 2 MB (embeddable on vehicle ECU).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- Inference Latency: &lt; 2 milliseconds per sample.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- Deployment: Streamlit web dashboard + standalone CLI.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SUMMARY AND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E3C"/>
                </a:solidFill>
              </a:defRPr>
            </a:pPr>
            <a:r>
              <a:t>7.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F1E3C"/>
                </a:solidFill>
              </a:defRPr>
            </a:pPr>
            <a:r>
              <a:t>Project Summary &amp; Outcomes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Successfully developed an end-to-end physics-grounded machine learning regression framework for EV driving range prediction.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Evaluated three distinct model families on 1,000 unseen test trips; Support Vector Regression (SVR) demonstrated the highest precision (MAE: 1.30 km, R2: 0.9953).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Demonstrated that ambient temperature and vehicle speed are the primary determinants of non-tractive energy loss.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Successfully deployed the champion SVR pipeline into a real-time interactive Streamlit web dashboard and standalone CLI inference tool.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0F1E3C"/>
                </a:solidFill>
              </a:defRPr>
            </a:pPr>
            <a:r>
              <a:t>Future Scope &amp; Enhancements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Live In-Vehicle Telematics: Direct integration with OBD-II / CAN-bus hardware for real-time live-streaming range updates.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Battery Degradation Modeling: Incorporate State of Health (SoH) and multi-year battery cell degradation tracking.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Route-Ahead Navigation Integration: Interface with mapping and elevation APIs to predict range for planned future routes before departure.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- Driver Behavioral Profiling: Incorporate aggressive versus eco-driving habits into real-time dynamic range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